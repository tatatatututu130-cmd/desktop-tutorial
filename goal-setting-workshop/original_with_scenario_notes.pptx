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6" r:id="rId9"/>
    <p:sldId id="269" r:id="rId10"/>
    <p:sldId id="267" r:id="rId11"/>
    <p:sldId id="268" r:id="rId12"/>
  </p:sldIdLst>
  <p:sldSz cx="12192000" cy="6858000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68109" autoAdjust="0"/>
  </p:normalViewPr>
  <p:slideViewPr>
    <p:cSldViewPr snapToGrid="0" snapToObjects="1">
      <p:cViewPr varScale="1">
        <p:scale>
          <a:sx n="75" d="100"/>
          <a:sy n="75" d="100"/>
        </p:scale>
        <p:origin x="708" y="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3087" y="45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瀧口 博子" userId="c1a9c49e-c449-44ef-a351-681999c6c27e" providerId="ADAL" clId="{F7BADE7D-4020-421A-8057-F9C54903405F}"/>
    <pc:docChg chg="undo custSel addSld modSld sldOrd modNotesMaster">
      <pc:chgData name="瀧口 博子" userId="c1a9c49e-c449-44ef-a351-681999c6c27e" providerId="ADAL" clId="{F7BADE7D-4020-421A-8057-F9C54903405F}" dt="2026-09-03T05:20:53.122" v="205"/>
      <pc:docMkLst>
        <pc:docMk/>
      </pc:docMkLst>
      <pc:sldChg chg="modNotesTx">
        <pc:chgData name="瀧口 博子" userId="c1a9c49e-c449-44ef-a351-681999c6c27e" providerId="ADAL" clId="{F7BADE7D-4020-421A-8057-F9C54903405F}" dt="2026-09-01T07:34:46.868" v="8" actId="6549"/>
        <pc:sldMkLst>
          <pc:docMk/>
          <pc:sldMk cId="0" sldId="256"/>
        </pc:sldMkLst>
      </pc:sldChg>
      <pc:sldChg chg="modSp mod ord modNotesTx">
        <pc:chgData name="瀧口 博子" userId="c1a9c49e-c449-44ef-a351-681999c6c27e" providerId="ADAL" clId="{F7BADE7D-4020-421A-8057-F9C54903405F}" dt="2026-09-03T05:18:53.809" v="201"/>
        <pc:sldMkLst>
          <pc:docMk/>
          <pc:sldMk cId="0" sldId="257"/>
        </pc:sldMkLst>
        <pc:spChg chg="mod">
          <ac:chgData name="瀧口 博子" userId="c1a9c49e-c449-44ef-a351-681999c6c27e" providerId="ADAL" clId="{F7BADE7D-4020-421A-8057-F9C54903405F}" dt="2026-09-02T02:17:30.969" v="83" actId="13926"/>
          <ac:spMkLst>
            <pc:docMk/>
            <pc:sldMk cId="0" sldId="257"/>
            <ac:spMk id="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7:37.805" v="84" actId="1392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7:56.359" v="86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8:20.975" v="89" actId="1392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7"/>
            <ac:spMk id="23" creationId="{00000000-0000-0000-0000-000000000000}"/>
          </ac:spMkLst>
        </pc:spChg>
      </pc:sldChg>
      <pc:sldChg chg="modSp mod or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58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8"/>
            <ac:spMk id="14" creationId="{00000000-0000-0000-0000-000000000000}"/>
          </ac:spMkLst>
        </pc:spChg>
      </pc:sldChg>
      <pc:sldChg chg="modSp mod ord modNotesTx">
        <pc:chgData name="瀧口 博子" userId="c1a9c49e-c449-44ef-a351-681999c6c27e" providerId="ADAL" clId="{F7BADE7D-4020-421A-8057-F9C54903405F}" dt="2026-09-03T05:20:05.292" v="203"/>
        <pc:sldMkLst>
          <pc:docMk/>
          <pc:sldMk cId="0" sldId="259"/>
        </pc:sldMkLst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60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61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1"/>
            <ac:spMk id="22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2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6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6"/>
            <ac:spMk id="20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7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8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8"/>
            <ac:spMk id="19" creationId="{00000000-0000-0000-0000-000000000000}"/>
          </ac:spMkLst>
        </pc:spChg>
      </pc:sldChg>
      <pc:sldChg chg="addSp delSp modSp add mod ord">
        <pc:chgData name="瀧口 博子" userId="c1a9c49e-c449-44ef-a351-681999c6c27e" providerId="ADAL" clId="{F7BADE7D-4020-421A-8057-F9C54903405F}" dt="2026-09-03T05:20:53.122" v="205"/>
        <pc:sldMkLst>
          <pc:docMk/>
          <pc:sldMk cId="0" sldId="269"/>
        </pc:sldMkLst>
        <pc:spChg chg="mod">
          <ac:chgData name="瀧口 博子" userId="c1a9c49e-c449-44ef-a351-681999c6c27e" providerId="ADAL" clId="{F7BADE7D-4020-421A-8057-F9C54903405F}" dt="2026-09-02T05:04:49.134" v="103" actId="20577"/>
          <ac:spMkLst>
            <pc:docMk/>
            <pc:sldMk cId="0" sldId="269"/>
            <ac:spMk id="2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33.493" v="172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8:16.262" v="199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06.042" v="178" actId="255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瀧口 博子" userId="c1a9c49e-c449-44ef-a351-681999c6c27e" providerId="ADAL" clId="{F7BADE7D-4020-421A-8057-F9C54903405F}" dt="2026-09-03T05:12:32.829" v="119" actId="47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14.315" v="180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04.853" v="189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34.629" v="184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14.434" v="191" actId="11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22.183" v="193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05.289" v="190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34.254" v="196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41.624" v="197" actId="255"/>
          <ac:spMkLst>
            <pc:docMk/>
            <pc:sldMk cId="0" sldId="269"/>
            <ac:spMk id="32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19.367" v="168" actId="21"/>
          <ac:spMkLst>
            <pc:docMk/>
            <pc:sldMk cId="0" sldId="269"/>
            <ac:spMk id="35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7.088" v="171" actId="21"/>
          <ac:spMkLst>
            <pc:docMk/>
            <pc:sldMk cId="0" sldId="269"/>
            <ac:spMk id="3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3:56.756" v="167" actId="20577"/>
          <ac:spMkLst>
            <pc:docMk/>
            <pc:sldMk cId="0" sldId="269"/>
            <ac:spMk id="37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2.492" v="169" actId="21"/>
          <ac:spMkLst>
            <pc:docMk/>
            <pc:sldMk cId="0" sldId="269"/>
            <ac:spMk id="38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4.644" v="170" actId="21"/>
          <ac:spMkLst>
            <pc:docMk/>
            <pc:sldMk cId="0" sldId="269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64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image" Target="../media/image1.png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image" Target="../media/image2.png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image" Target="../media/image3.png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image" Target="../media/image4.png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image" Target="../media/image5.png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image" Target="../media/image6.png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image" Target="../media/image7.png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image" Target="../media/image8.png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1" descr="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「おはようございます。今日は『声かけ・サポートアドバイザー　３か月行動計画表』の使い方を、３分ほどでご説明します。説明のあと、実際にグループ目標と自分の行動を考えていただきます。」（約20秒）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2" descr="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このシートは、グループで決めた目標を、自分の職場での行動につなげるためのものです。①グループで目標を決める、②自分の行動を決める、③行動をふり返る、の3ステップです。今日はこのうち①と②を行います。③は研修後、毎月行います。」（約30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4" descr="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まずグループに分かれます。進行役・書記・発表者を決め、目標案とその理由を、付箋紙1枚に1つずつ、短い言葉で大きく書いてください。今日は配布した第1回のシートに手書きし、研修後にパソコンへ入力します。パソコンをお持ちでない方は、箇所長に紙を渡して入力をお願いしてください。」（約30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5" descr="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グループ目標には、この3か月でみんなが目指すことを書きます。理由には、なぜその目標に取り組むのかを書きます。右の見本は書き方の参考です。グループで話し合って決めた内容を、同じようにわかりやすい言葉で書いてください。」（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6" descr="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グループ目標が決まったら、次は各自で考えます。『何をする』には自分の職場で実際に行うことを、『どのように』にはいつ・どこで・誰に・どんな方法で行うかを書きます。今日はまず1か月目の分を考えます。」（約25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3" descr="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「色を見れば、誰が書く欄かがわかります。白色の欄は本人が、緑色の欄は箇所長が書きます。パソコンをお持ちでない方は、箇所長に紙を渡して入力をお願いしてください。」（約15秒）</a:t>
            </a:r>
          </a:p>
          <a:p>
            <a:r>
              <a:t>※スライド見出しは「黄色」表記ですが、本文・凡例は「白色」になっています。表記を統一すると親切です。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7" descr="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研修後は、月の初めに『何をする』『どのように』を書き、月の終わりに『できたこと』『できなかったこと』を書いて箇所長からコメントをもらいます。これを3か月続けたら、続けたいことと次にやることをまとめます。」（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8" descr="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「今日のポイントは3つです。①グループ目標を決める、②自分の行動に変える、③今日は紙に記入し、あとでパソコンへ。それでは、グループで目標を考えるところから始めましょう。」（約25秒）</a:t>
            </a:r>
          </a:p>
          <a:p>
            <a:r>
              <a:t>※ここまでの説明で合計およそ3分の想定です。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/>
          <a:lstStyle/>
          <a:p>
            <a:r>
              <a:t>ここから実際の作業（合計約27分、目安として30分の枠を使います）。役割を決める2分→各自で付箋紙を書く4分→出し合い模造紙で整理する8分→グループ目標と理由を決める6分→各自の行動を書く2分→4班が発表する5分、の順で進めます。各区切りで残り時間を声がけし、押している班には早めに個別で声をかけ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683494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/>
          <a:lstStyle/>
          <a:p>
            <a:r>
              <a:t>この2枚（想定Q&amp;A）は説明用スライドではなく、参考資料です。個人・グループワーク中に同じような質問が出たら、該当の項目を示しながら答えてください。時間が余った場合のみ、最後にまとめて取り上げてもかまいません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/>
          <a:lstStyle/>
          <a:p>
            <a:r>
              <a:t>前スライドに続く想定Q&amp;Aです。特に「できなかった月」「行動が難しすぎる／簡単すぎる」への回答は、研修後の毎月のふり返りで実際によく出る質問なので、その場でも同じ答え方を意識してくださ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103120" y="438912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02C39A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声かけ・サポートアドバイザ</a:t>
            </a:r>
            <a:r>
              <a:rPr lang="en-US" sz="2000" b="1">
                <a:solidFill>
                  <a:srgbClr val="02C39A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ー</a:t>
            </a:r>
            <a:endParaRPr lang="en-US" sz="20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３カ月</a:t>
            </a:r>
            <a:r>
              <a:rPr lang="en-US" sz="5400" b="1" dirty="0" err="1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行動計画表</a:t>
            </a:r>
            <a:r>
              <a:rPr lang="en-US" sz="4400" b="1" dirty="0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　</a:t>
            </a:r>
            <a:r>
              <a:rPr lang="en-US" sz="4400" b="1" dirty="0" err="1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使い方ガイド</a:t>
            </a:r>
            <a:endParaRPr lang="en-US" sz="4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7291" y="4603432"/>
            <a:ext cx="104498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CFE3E0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目標を立てて、行動して、ふり返る。3か月のサイクルを見える化</a:t>
            </a:r>
            <a:endParaRPr lang="en-US" sz="2400" dirty="0">
              <a:latin typeface="MS Gothic"/>
              <a:ea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シートの目的：目標を、職場での行動につなげる</a:t>
            </a:r>
            <a:endParaRPr lang="en-US" sz="3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3996" y="1127855"/>
            <a:ext cx="92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グループで決めた目標を、各自の行動に変え、3か月の変化を残します。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0" y="2468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920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目標</a:t>
            </a: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を決める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みんなで目指すことと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その理由を決める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0" y="3538728"/>
            <a:ext cx="41148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各自が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</a:t>
            </a: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を決める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自分の職場で「何を」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「どのように」するか考える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0" y="3538728"/>
            <a:ext cx="41148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509760" y="2468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5097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行動を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ふり返る</a:t>
            </a:r>
            <a:endParaRPr lang="en-US" sz="2400" dirty="0">
              <a:highlight>
                <a:srgbClr val="FFFF00"/>
              </a:highlight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820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毎月記録し、3か月後に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次へつなげる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書くことが目的ではなく、職場で行動するための計画です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433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付箋紙に書いて出し合い、グループ目標を決めます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0067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1枚に1つ、短い言葉で大きく書き、模造紙に貼って整理します</a:t>
            </a:r>
            <a:r>
              <a:rPr lang="en-US" sz="1800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309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4198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役割を決め</a:t>
            </a: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、自分の考えを書く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3080" y="25877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進行役・書記・発表者を決め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目標の案や理由を付箋紙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1枚に1つずつ書きます。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38613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93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グループで出し合い、整理する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3080" y="405079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模造紙に貼り、似た意見をまとめながら目標と理由を決めます。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484917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5257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50566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各自で行動を考える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551383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決めた目標に向けて、自分の職場での行動を書きます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最初に：グループ目標と</a:t>
            </a:r>
            <a:r>
              <a:rPr lang="en-US" sz="28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、その理由を書く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みんなで話し合って、同じ目標と理由を記入します。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グループで決めること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 b="1" i="1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この3か月で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みんなで何を目指すか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4937760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目標にした理由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なぜ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その目標に取り組むのか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4937760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★</a:t>
            </a:r>
            <a:r>
              <a:rPr lang="en-US">
                <a:solidFill>
                  <a:schemeClr val="accent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グループで決めた内容を、同じように書きます</a:t>
            </a:r>
            <a:endParaRPr lang="en-US" dirty="0">
              <a:solidFill>
                <a:schemeClr val="accent2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2697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5DA"/>
          </a:solidFill>
          <a:ln w="1905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8A63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見本は参考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33832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職場のみんなに声かけ・スポットを知ってもらい、困っている人に声をかける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理由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困っている人に気づき、声をかけられる職場にしたいから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次に</a:t>
            </a:r>
            <a:r>
              <a:rPr lang="en-US" sz="28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：</a:t>
            </a:r>
            <a:r>
              <a:rPr lang="en-US" sz="28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自分の職場での行動を書く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同じグループ目標に向けて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一人ひとりが自分で考えます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3591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何をする（行動）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8872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自分の職場で、</a:t>
            </a: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何を</a:t>
            </a:r>
            <a:r>
              <a:rPr lang="ja-JP" alt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す</a:t>
            </a: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るか</a:t>
            </a:r>
            <a:r>
              <a:rPr lang="ja-JP" alt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を書く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05840" y="402336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グループ目標につながる、できることを考える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06440" y="3538728"/>
            <a:ext cx="54864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7208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23591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どのように（やり方）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66560" y="306324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94944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いつ・どこで・誰に・どんな方法で行うか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766560" y="402336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4023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実際にできる、わかりやすいやり方を書く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この研修では、まず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1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か月目の「何をする」「どのように」を考えます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記入のルール：黄色は本人、緑は箇所長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77440" y="1112996"/>
            <a:ext cx="85253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色を見れば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誰が書く欄かがわかります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0561" y="1965960"/>
            <a:ext cx="5120640" cy="4023360"/>
          </a:xfrm>
          <a:prstGeom prst="roundRect">
            <a:avLst>
              <a:gd name="adj" fmla="val 3182"/>
            </a:avLst>
          </a:prstGeom>
          <a:ln w="15240">
            <a:solidFill>
              <a:srgbClr val="F5B7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ja-JP" altLang="en-US">
              <a:solidFill>
                <a:schemeClr val="accent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5B70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0F4A4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白色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本人が書く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44866" cy="1871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氏名</a:t>
            </a: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・職場・期間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グループ目標と理由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毎月の「何をする」「どのように」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できたこと／できなかったこと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120640" cy="4023360"/>
          </a:xfrm>
          <a:prstGeom prst="roundRect">
            <a:avLst>
              <a:gd name="adj" fmla="val 3182"/>
            </a:avLst>
          </a:prstGeom>
          <a:solidFill>
            <a:srgbClr val="E4F3E9"/>
          </a:solidFill>
          <a:ln w="19050">
            <a:solidFill>
              <a:srgbClr val="3C9A5F"/>
            </a:solidFill>
            <a:prstDash val="solid"/>
          </a:ln>
        </p:spPr>
        <p:txBody>
          <a:bodyPr/>
          <a:lstStyle/>
          <a:p>
            <a:endParaRPr lang="ja-JP" alt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766560" y="23088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3C9A5F"/>
          </a:solidFill>
          <a:ln/>
        </p:spPr>
        <p:txBody>
          <a:bodyPr/>
          <a:lstStyle/>
          <a:p>
            <a:endParaRPr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緑色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箇所長が書く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4389120" cy="1871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毎月の確認コメント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3</a:t>
            </a: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か月後のコメント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PC入力のサポート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研修後：毎月ふり返り、3か月後にまとめる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744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行動した結果を残すと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変化と次にすることが見えてきます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3C9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月の初めに、行動を書く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83080" y="25877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「何をする」「どのように」を書きます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93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月の終わりに</a:t>
            </a:r>
            <a:r>
              <a:rPr lang="en-US" sz="20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結果を書く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405079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「できたこと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」「できなかったこと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」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を書き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箇所長がコメントします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5257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50566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3か月後に、全体をまとめる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83080" y="551383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「続けたいこと」「次にやること」を書き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、最後に箇所長がコメントします。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まとめ：</a:t>
            </a:r>
            <a:r>
              <a:rPr lang="en-US" sz="3200" b="1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今日、覚えてほしい</a:t>
            </a:r>
            <a:r>
              <a:rPr lang="en-US" sz="3200" b="1" dirty="0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3</a:t>
            </a:r>
            <a:r>
              <a:rPr lang="en-US" sz="3200" b="1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つ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84509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0F4A45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グループ目標を決める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2487168"/>
            <a:ext cx="917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みんなで目指すことと、その理由を決めます。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0F4A45"/>
          </a:solidFill>
          <a:ln/>
        </p:spPr>
        <p:txBody>
          <a:bodyPr/>
          <a:lstStyle/>
          <a:p>
            <a:endParaRPr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520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自分の行動に変える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399592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err="1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自分の職場で「何をする」「どのようにする」を書きます。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8691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0F4A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1097280" y="5212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94461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紙から始め、あとでPCへ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5504688"/>
            <a:ext cx="92395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今日は紙に記入。PCがなければ、箇所長に入力をお願いします</a:t>
            </a:r>
            <a:r>
              <a:rPr lang="en-US" sz="2400" dirty="0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FC9C3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行動して、毎月ふり返り、3か月後に次へつなげましょう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433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タイムスケジュール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527048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05256" y="155905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05256" y="1559052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ja-JP" altLang="en-US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72768" y="1549908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役割を決める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72768" y="1805940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進行役・書記・発表者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2157984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05256" y="2189988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11" name="Text 9"/>
          <p:cNvSpPr/>
          <p:nvPr/>
        </p:nvSpPr>
        <p:spPr>
          <a:xfrm>
            <a:off x="917448" y="2180844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ja-JP" altLang="en-US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72768" y="2180844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各自で付箋紙を書く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72768" y="2436876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400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目標案と理由を、1枚に1つ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143000" y="2800096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68680" y="2820924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05256" y="2820924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chemeClr val="bg1"/>
                </a:solidFill>
              </a:rPr>
              <a:t>8</a:t>
            </a:r>
            <a:r>
              <a:rPr lang="ja-JP" altLang="en-US" sz="1600" b="1" dirty="0">
                <a:solidFill>
                  <a:schemeClr val="bg1"/>
                </a:solidFill>
              </a:rPr>
              <a:t>分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72768" y="2811780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出し合い、模造紙で整理する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72768" y="3067812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似た意見をまとめる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/>
          </a:p>
        </p:txBody>
      </p:sp>
      <p:sp>
        <p:nvSpPr>
          <p:cNvPr id="20" name="Shape 12 copy"/>
          <p:cNvSpPr/>
          <p:nvPr/>
        </p:nvSpPr>
        <p:spPr>
          <a:xfrm>
            <a:off x="640080" y="3419856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Shape 13 copy"/>
          <p:cNvSpPr/>
          <p:nvPr/>
        </p:nvSpPr>
        <p:spPr>
          <a:xfrm>
            <a:off x="905256" y="345186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 copy"/>
          <p:cNvSpPr/>
          <p:nvPr/>
        </p:nvSpPr>
        <p:spPr>
          <a:xfrm>
            <a:off x="905256" y="3451860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chemeClr val="bg1"/>
                </a:solidFill>
              </a:rPr>
              <a:t>6</a:t>
            </a:r>
            <a:r>
              <a:rPr lang="ja-JP" altLang="en-US" sz="1600" b="1" dirty="0">
                <a:solidFill>
                  <a:schemeClr val="bg1"/>
                </a:solidFill>
              </a:rPr>
              <a:t>分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Text 15 copy"/>
          <p:cNvSpPr/>
          <p:nvPr/>
        </p:nvSpPr>
        <p:spPr>
          <a:xfrm>
            <a:off x="1572768" y="3483610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グループ目標と理由を決める</a:t>
            </a:r>
            <a:endParaRPr lang="en-US" dirty="0"/>
          </a:p>
        </p:txBody>
      </p:sp>
      <p:sp>
        <p:nvSpPr>
          <p:cNvPr id="24" name="Text 16 copy"/>
          <p:cNvSpPr/>
          <p:nvPr/>
        </p:nvSpPr>
        <p:spPr>
          <a:xfrm>
            <a:off x="1572768" y="3698748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全員で内容を確認</a:t>
            </a:r>
            <a:endParaRPr lang="en-US"/>
          </a:p>
        </p:txBody>
      </p:sp>
      <p:sp>
        <p:nvSpPr>
          <p:cNvPr id="25" name="Schedule row 5 part 0"/>
          <p:cNvSpPr/>
          <p:nvPr/>
        </p:nvSpPr>
        <p:spPr>
          <a:xfrm>
            <a:off x="640080" y="4050792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6" name="Schedule row 5 part 1"/>
          <p:cNvSpPr/>
          <p:nvPr/>
        </p:nvSpPr>
        <p:spPr>
          <a:xfrm>
            <a:off x="905256" y="408279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chedule row 5 part 2"/>
          <p:cNvSpPr/>
          <p:nvPr/>
        </p:nvSpPr>
        <p:spPr>
          <a:xfrm>
            <a:off x="905256" y="4082796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chemeClr val="bg1"/>
                </a:solidFill>
              </a:rPr>
              <a:t>2</a:t>
            </a:r>
            <a:r>
              <a:rPr lang="ja-JP" altLang="en-US" sz="1600" b="1" dirty="0">
                <a:solidFill>
                  <a:schemeClr val="bg1"/>
                </a:solidFill>
              </a:rPr>
              <a:t>分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8" name="Schedule row 5 part 3"/>
          <p:cNvSpPr/>
          <p:nvPr/>
        </p:nvSpPr>
        <p:spPr>
          <a:xfrm>
            <a:off x="1572768" y="4073652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各自の行動を書く</a:t>
            </a:r>
            <a:endParaRPr lang="en-US" dirty="0"/>
          </a:p>
        </p:txBody>
      </p:sp>
      <p:sp>
        <p:nvSpPr>
          <p:cNvPr id="29" name="Schedule row 5 part 4"/>
          <p:cNvSpPr/>
          <p:nvPr/>
        </p:nvSpPr>
        <p:spPr>
          <a:xfrm>
            <a:off x="1572768" y="4329684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自分の職場でできること</a:t>
            </a:r>
            <a:endParaRPr lang="en-US" dirty="0"/>
          </a:p>
        </p:txBody>
      </p:sp>
      <p:sp>
        <p:nvSpPr>
          <p:cNvPr id="30" name="Schedule row 6 part 0"/>
          <p:cNvSpPr/>
          <p:nvPr/>
        </p:nvSpPr>
        <p:spPr>
          <a:xfrm>
            <a:off x="640080" y="4681728"/>
            <a:ext cx="10881360" cy="53949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1" name="Schedule row 6 part 1"/>
          <p:cNvSpPr/>
          <p:nvPr/>
        </p:nvSpPr>
        <p:spPr>
          <a:xfrm>
            <a:off x="905256" y="4713732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Schedule row 6 part 2"/>
          <p:cNvSpPr/>
          <p:nvPr/>
        </p:nvSpPr>
        <p:spPr>
          <a:xfrm>
            <a:off x="905256" y="4713732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r>
              <a:rPr lang="en-US" altLang="ja-JP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ja-JP" altLang="en-US" sz="1600" b="1" dirty="0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分</a:t>
            </a:r>
            <a:endParaRPr lang="en-US" sz="1600" dirty="0"/>
          </a:p>
        </p:txBody>
      </p:sp>
      <p:sp>
        <p:nvSpPr>
          <p:cNvPr id="33" name="Schedule row 6 part 3"/>
          <p:cNvSpPr/>
          <p:nvPr/>
        </p:nvSpPr>
        <p:spPr>
          <a:xfrm>
            <a:off x="1572768" y="4704588"/>
            <a:ext cx="9464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4班が順番に発表する</a:t>
            </a:r>
            <a:endParaRPr lang="en-US"/>
          </a:p>
        </p:txBody>
      </p:sp>
      <p:sp>
        <p:nvSpPr>
          <p:cNvPr id="34" name="Schedule row 6 part 4"/>
          <p:cNvSpPr/>
          <p:nvPr/>
        </p:nvSpPr>
        <p:spPr>
          <a:xfrm>
            <a:off x="1572768" y="4960620"/>
            <a:ext cx="9464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1班1分／交代を含め5分</a:t>
            </a:r>
            <a:endParaRPr lang="en-US" dirty="0"/>
          </a:p>
        </p:txBody>
      </p:sp>
      <p:sp>
        <p:nvSpPr>
          <p:cNvPr id="37" name="Schedule row 7 part 2"/>
          <p:cNvSpPr/>
          <p:nvPr/>
        </p:nvSpPr>
        <p:spPr>
          <a:xfrm>
            <a:off x="905256" y="5344668"/>
            <a:ext cx="475488" cy="475488"/>
          </a:xfrm>
          <a:prstGeom prst="rect">
            <a:avLst/>
          </a:prstGeom>
          <a:noFill/>
          <a:ln/>
        </p:spPr>
        <p:txBody>
          <a:bodyPr wrap="square" lIns="9144" tIns="0" rIns="9144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433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想定Q&amp;A：目標と行動の決め方</a:t>
            </a:r>
            <a:endParaRPr lang="en-US" sz="32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0067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このシートを書くときに迷いやすい点を確認します。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1856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783080" y="1664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グループ目標は、どう決めればよいですか？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3か月後に職場をどうしたいかを話し合い、全員で取り組める目標にします。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783080" y="2807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目標にした理由は、どこまで書きますか？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3200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今の課題と、目標を達成して起こしたい変化がわかるように一文で書きます。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41422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783080" y="3950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同じグループでも、各自の行動は違ってよいですか？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83080" y="4343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違って構いません。同じ目標につながる範囲で、自分の職場でできる行動を選びます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/>
          </a:p>
        </p:txBody>
      </p:sp>
      <p:sp>
        <p:nvSpPr>
          <p:cNvPr id="20" name="Shape 12 copy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Shape 13 copy"/>
          <p:cNvSpPr/>
          <p:nvPr/>
        </p:nvSpPr>
        <p:spPr>
          <a:xfrm>
            <a:off x="960120" y="52852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 copy"/>
          <p:cNvSpPr/>
          <p:nvPr/>
        </p:nvSpPr>
        <p:spPr>
          <a:xfrm>
            <a:off x="960120" y="5285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/>
          </a:p>
        </p:txBody>
      </p:sp>
      <p:sp>
        <p:nvSpPr>
          <p:cNvPr id="23" name="Text 15 copy"/>
          <p:cNvSpPr/>
          <p:nvPr/>
        </p:nvSpPr>
        <p:spPr>
          <a:xfrm>
            <a:off x="1783080" y="5093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「何をする」と「どのように」の違いは？</a:t>
            </a:r>
            <a:endParaRPr lang="en-US"/>
          </a:p>
        </p:txBody>
      </p:sp>
      <p:sp>
        <p:nvSpPr>
          <p:cNvPr id="24" name="Text 16 copy"/>
          <p:cNvSpPr/>
          <p:nvPr/>
        </p:nvSpPr>
        <p:spPr>
          <a:xfrm>
            <a:off x="1783080" y="5486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何をする」は行動内容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、「</a:t>
            </a: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どのように」は時期・相手・頻度・方法を具体的に書きます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433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想定Q&amp;A：記入と毎月のふり返り</a:t>
            </a:r>
            <a:endParaRPr lang="en-US" sz="320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0067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実行後は、結果を正直に残し、次の行動につなげます。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18562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783080" y="1664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考えた行動が難しすぎる、または簡単すぎるときは？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2057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3か月続けられる大きさに調整します。小さく始め、慣れたら行動を広げます。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783080" y="2807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予定した行動ができなかった月は、何を書きますか</a:t>
            </a:r>
            <a:r>
              <a:rPr 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3080" y="3200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空欄にせず、できなかった理由と、次に変えることを具体的に書きます。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41422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783080" y="3950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翌月の「何をする</a:t>
            </a:r>
            <a:r>
              <a:rPr 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」「</a:t>
            </a: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どのように」は変えてよいですか</a:t>
            </a:r>
            <a:r>
              <a:rPr 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4343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変えて構いません。前月の結果を踏まえ</a:t>
            </a: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目標につながる実行可能な内容に見直します。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/>
          </a:p>
        </p:txBody>
      </p:sp>
      <p:sp>
        <p:nvSpPr>
          <p:cNvPr id="20" name="Shape 12 copy"/>
          <p:cNvSpPr/>
          <p:nvPr/>
        </p:nvSpPr>
        <p:spPr>
          <a:xfrm>
            <a:off x="640080" y="5029200"/>
            <a:ext cx="10881360" cy="10058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Shape 13 copy"/>
          <p:cNvSpPr/>
          <p:nvPr/>
        </p:nvSpPr>
        <p:spPr>
          <a:xfrm>
            <a:off x="960120" y="52852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4 copy"/>
          <p:cNvSpPr/>
          <p:nvPr/>
        </p:nvSpPr>
        <p:spPr>
          <a:xfrm>
            <a:off x="960120" y="5285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/>
          </a:p>
        </p:txBody>
      </p:sp>
      <p:sp>
        <p:nvSpPr>
          <p:cNvPr id="23" name="Text 15 copy"/>
          <p:cNvSpPr/>
          <p:nvPr/>
        </p:nvSpPr>
        <p:spPr>
          <a:xfrm>
            <a:off x="1783080" y="5093208"/>
            <a:ext cx="9418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箇所長は、コメント欄に何を書けばよいですか</a:t>
            </a:r>
            <a:r>
              <a:rPr 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？</a:t>
            </a:r>
            <a:endParaRPr lang="en-US" dirty="0"/>
          </a:p>
        </p:txBody>
      </p:sp>
      <p:sp>
        <p:nvSpPr>
          <p:cNvPr id="24" name="Text 16 copy"/>
          <p:cNvSpPr/>
          <p:nvPr/>
        </p:nvSpPr>
        <p:spPr>
          <a:xfrm>
            <a:off x="1783080" y="548640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できた点を認め、次の一歩が明確になる具体的な助言や支援内容を書きます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1294</Words>
  <Application>Microsoft Office PowerPoint</Application>
  <PresentationFormat>ワイド画面</PresentationFormat>
  <Paragraphs>167</Paragraphs>
  <Slides>11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ゴシック</vt:lpstr>
      <vt:lpstr>ＭＳ ゴシック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博子 瀧口</cp:lastModifiedBy>
  <cp:revision>14</cp:revision>
  <cp:lastPrinted>2026-08-26T01:06:16Z</cp:lastPrinted>
  <dcterms:created xsi:type="dcterms:W3CDTF">2026-08-18T07:23:31Z</dcterms:created>
  <dcterms:modified xsi:type="dcterms:W3CDTF">2026-09-03T05:21:02Z</dcterms:modified>
</cp:coreProperties>
</file>