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1" r:id="rId6"/>
    <p:sldId id="258" r:id="rId7"/>
    <p:sldId id="262" r:id="rId8"/>
    <p:sldId id="266" r:id="rId9"/>
  </p:sldIdLst>
  <p:sldSz cx="12192000" cy="6858000"/>
  <p:notesSz cx="6735763" cy="98663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68109" autoAdjust="0"/>
  </p:normalViewPr>
  <p:slideViewPr>
    <p:cSldViewPr snapToGrid="0" snapToObjects="1">
      <p:cViewPr varScale="1">
        <p:scale>
          <a:sx n="75" d="100"/>
          <a:sy n="75" d="100"/>
        </p:scale>
        <p:origin x="1107" y="3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5" d="100"/>
          <a:sy n="55" d="100"/>
        </p:scale>
        <p:origin x="3087" y="45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瀧口 博子" userId="c1a9c49e-c449-44ef-a351-681999c6c27e" providerId="ADAL" clId="{F7BADE7D-4020-421A-8057-F9C54903405F}"/>
    <pc:docChg chg="undo custSel addSld modSld sldOrd modNotesMaster">
      <pc:chgData name="瀧口 博子" userId="c1a9c49e-c449-44ef-a351-681999c6c27e" providerId="ADAL" clId="{F7BADE7D-4020-421A-8057-F9C54903405F}" dt="2026-09-03T05:20:53.122" v="205"/>
      <pc:docMkLst>
        <pc:docMk/>
      </pc:docMkLst>
      <pc:sldChg chg="modNotesTx">
        <pc:chgData name="瀧口 博子" userId="c1a9c49e-c449-44ef-a351-681999c6c27e" providerId="ADAL" clId="{F7BADE7D-4020-421A-8057-F9C54903405F}" dt="2026-09-01T07:34:46.868" v="8" actId="6549"/>
        <pc:sldMkLst>
          <pc:docMk/>
          <pc:sldMk cId="0" sldId="256"/>
        </pc:sldMkLst>
      </pc:sldChg>
      <pc:sldChg chg="modSp mod ord modNotesTx">
        <pc:chgData name="瀧口 博子" userId="c1a9c49e-c449-44ef-a351-681999c6c27e" providerId="ADAL" clId="{F7BADE7D-4020-421A-8057-F9C54903405F}" dt="2026-09-03T05:18:53.809" v="201"/>
        <pc:sldMkLst>
          <pc:docMk/>
          <pc:sldMk cId="0" sldId="257"/>
        </pc:sldMkLst>
        <pc:spChg chg="mod">
          <ac:chgData name="瀧口 博子" userId="c1a9c49e-c449-44ef-a351-681999c6c27e" providerId="ADAL" clId="{F7BADE7D-4020-421A-8057-F9C54903405F}" dt="2026-09-02T02:17:30.969" v="83" actId="13926"/>
          <ac:spMkLst>
            <pc:docMk/>
            <pc:sldMk cId="0" sldId="257"/>
            <ac:spMk id="7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2:17:37.805" v="84" actId="1392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2:17:56.359" v="86" actId="1076"/>
          <ac:spMkLst>
            <pc:docMk/>
            <pc:sldMk cId="0" sldId="257"/>
            <ac:spMk id="16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2:18:20.975" v="89" actId="1392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57"/>
            <ac:spMk id="23" creationId="{00000000-0000-0000-0000-000000000000}"/>
          </ac:spMkLst>
        </pc:spChg>
      </pc:sldChg>
      <pc:sldChg chg="modSp mod ord">
        <pc:chgData name="瀧口 博子" userId="c1a9c49e-c449-44ef-a351-681999c6c27e" providerId="ADAL" clId="{F7BADE7D-4020-421A-8057-F9C54903405F}" dt="2026-09-02T05:10:03.972" v="105" actId="26606"/>
        <pc:sldMkLst>
          <pc:docMk/>
          <pc:sldMk cId="0" sldId="258"/>
        </pc:sldMkLst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58"/>
            <ac:spMk id="14" creationId="{00000000-0000-0000-0000-000000000000}"/>
          </ac:spMkLst>
        </pc:spChg>
      </pc:sldChg>
      <pc:sldChg chg="modSp mod ord modNotesTx">
        <pc:chgData name="瀧口 博子" userId="c1a9c49e-c449-44ef-a351-681999c6c27e" providerId="ADAL" clId="{F7BADE7D-4020-421A-8057-F9C54903405F}" dt="2026-09-03T05:20:05.292" v="203"/>
        <pc:sldMkLst>
          <pc:docMk/>
          <pc:sldMk cId="0" sldId="259"/>
        </pc:sldMkLst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3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59"/>
            <ac:spMk id="7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1T06:46:02.205" v="7" actId="2660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59"/>
            <ac:spMk id="19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5:10:03.972" v="105" actId="26606"/>
        <pc:sldMkLst>
          <pc:docMk/>
          <pc:sldMk cId="0" sldId="260"/>
        </pc:sldMkLst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60"/>
            <ac:spMk id="18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5:10:03.972" v="105" actId="26606"/>
        <pc:sldMkLst>
          <pc:docMk/>
          <pc:sldMk cId="0" sldId="261"/>
        </pc:sldMkLst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61"/>
            <ac:spMk id="22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4:52:48.272" v="96" actId="26606"/>
        <pc:sldMkLst>
          <pc:docMk/>
          <pc:sldMk cId="0" sldId="262"/>
        </pc:sldMkLst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62"/>
            <ac:spMk id="19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4:52:48.272" v="96" actId="26606"/>
        <pc:sldMkLst>
          <pc:docMk/>
          <pc:sldMk cId="0" sldId="266"/>
        </pc:sldMkLst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66"/>
            <ac:spMk id="20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4:52:48.272" v="96" actId="26606"/>
        <pc:sldMkLst>
          <pc:docMk/>
          <pc:sldMk cId="0" sldId="267"/>
        </pc:sldMkLst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67"/>
            <ac:spMk id="19" creationId="{00000000-0000-0000-0000-000000000000}"/>
          </ac:spMkLst>
        </pc:spChg>
      </pc:sldChg>
      <pc:sldChg chg="modSp mod">
        <pc:chgData name="瀧口 博子" userId="c1a9c49e-c449-44ef-a351-681999c6c27e" providerId="ADAL" clId="{F7BADE7D-4020-421A-8057-F9C54903405F}" dt="2026-09-02T04:52:48.272" v="96" actId="26606"/>
        <pc:sldMkLst>
          <pc:docMk/>
          <pc:sldMk cId="0" sldId="268"/>
        </pc:sldMkLst>
        <pc:spChg chg="mod">
          <ac:chgData name="瀧口 博子" userId="c1a9c49e-c449-44ef-a351-681999c6c27e" providerId="ADAL" clId="{F7BADE7D-4020-421A-8057-F9C54903405F}" dt="2026-09-02T04:52:48.272" v="96" actId="26606"/>
          <ac:spMkLst>
            <pc:docMk/>
            <pc:sldMk cId="0" sldId="268"/>
            <ac:spMk id="19" creationId="{00000000-0000-0000-0000-000000000000}"/>
          </ac:spMkLst>
        </pc:spChg>
      </pc:sldChg>
      <pc:sldChg chg="addSp delSp modSp add mod ord">
        <pc:chgData name="瀧口 博子" userId="c1a9c49e-c449-44ef-a351-681999c6c27e" providerId="ADAL" clId="{F7BADE7D-4020-421A-8057-F9C54903405F}" dt="2026-09-03T05:20:53.122" v="205"/>
        <pc:sldMkLst>
          <pc:docMk/>
          <pc:sldMk cId="0" sldId="269"/>
        </pc:sldMkLst>
        <pc:spChg chg="mod">
          <ac:chgData name="瀧口 博子" userId="c1a9c49e-c449-44ef-a351-681999c6c27e" providerId="ADAL" clId="{F7BADE7D-4020-421A-8057-F9C54903405F}" dt="2026-09-02T05:04:49.134" v="103" actId="20577"/>
          <ac:spMkLst>
            <pc:docMk/>
            <pc:sldMk cId="0" sldId="269"/>
            <ac:spMk id="2" creationId="{00000000-0000-0000-0000-000000000000}"/>
          </ac:spMkLst>
        </pc:spChg>
        <pc:spChg chg="del">
          <ac:chgData name="瀧口 博子" userId="c1a9c49e-c449-44ef-a351-681999c6c27e" providerId="ADAL" clId="{F7BADE7D-4020-421A-8057-F9C54903405F}" dt="2026-09-03T05:14:33.493" v="172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8:16.262" v="199" actId="1076"/>
          <ac:spMkLst>
            <pc:docMk/>
            <pc:sldMk cId="0" sldId="269"/>
            <ac:spMk id="4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6:06.042" v="178" actId="255"/>
          <ac:spMkLst>
            <pc:docMk/>
            <pc:sldMk cId="0" sldId="269"/>
            <ac:spMk id="6" creationId="{00000000-0000-0000-0000-000000000000}"/>
          </ac:spMkLst>
        </pc:spChg>
        <pc:spChg chg="add del">
          <ac:chgData name="瀧口 博子" userId="c1a9c49e-c449-44ef-a351-681999c6c27e" providerId="ADAL" clId="{F7BADE7D-4020-421A-8057-F9C54903405F}" dt="2026-09-03T05:12:32.829" v="119" actId="478"/>
          <ac:spMkLst>
            <pc:docMk/>
            <pc:sldMk cId="0" sldId="269"/>
            <ac:spMk id="10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6:14.315" v="180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04.853" v="189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6:34.629" v="184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14.434" v="191" actId="113"/>
          <ac:spMkLst>
            <pc:docMk/>
            <pc:sldMk cId="0" sldId="269"/>
            <ac:spMk id="16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2T05:10:03.972" v="105" actId="2660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22.183" v="193" actId="255"/>
          <ac:spMkLst>
            <pc:docMk/>
            <pc:sldMk cId="0" sldId="269"/>
            <ac:spMk id="22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05.289" v="190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34.254" v="196" actId="207"/>
          <ac:spMkLst>
            <pc:docMk/>
            <pc:sldMk cId="0" sldId="269"/>
            <ac:spMk id="27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7:41.624" v="197" actId="255"/>
          <ac:spMkLst>
            <pc:docMk/>
            <pc:sldMk cId="0" sldId="269"/>
            <ac:spMk id="32" creationId="{00000000-0000-0000-0000-000000000000}"/>
          </ac:spMkLst>
        </pc:spChg>
        <pc:spChg chg="del">
          <ac:chgData name="瀧口 博子" userId="c1a9c49e-c449-44ef-a351-681999c6c27e" providerId="ADAL" clId="{F7BADE7D-4020-421A-8057-F9C54903405F}" dt="2026-09-03T05:14:19.367" v="168" actId="21"/>
          <ac:spMkLst>
            <pc:docMk/>
            <pc:sldMk cId="0" sldId="269"/>
            <ac:spMk id="35" creationId="{00000000-0000-0000-0000-000000000000}"/>
          </ac:spMkLst>
        </pc:spChg>
        <pc:spChg chg="del">
          <ac:chgData name="瀧口 博子" userId="c1a9c49e-c449-44ef-a351-681999c6c27e" providerId="ADAL" clId="{F7BADE7D-4020-421A-8057-F9C54903405F}" dt="2026-09-03T05:14:27.088" v="171" actId="21"/>
          <ac:spMkLst>
            <pc:docMk/>
            <pc:sldMk cId="0" sldId="269"/>
            <ac:spMk id="36" creationId="{00000000-0000-0000-0000-000000000000}"/>
          </ac:spMkLst>
        </pc:spChg>
        <pc:spChg chg="mod">
          <ac:chgData name="瀧口 博子" userId="c1a9c49e-c449-44ef-a351-681999c6c27e" providerId="ADAL" clId="{F7BADE7D-4020-421A-8057-F9C54903405F}" dt="2026-09-03T05:13:56.756" v="167" actId="20577"/>
          <ac:spMkLst>
            <pc:docMk/>
            <pc:sldMk cId="0" sldId="269"/>
            <ac:spMk id="37" creationId="{00000000-0000-0000-0000-000000000000}"/>
          </ac:spMkLst>
        </pc:spChg>
        <pc:spChg chg="del">
          <ac:chgData name="瀧口 博子" userId="c1a9c49e-c449-44ef-a351-681999c6c27e" providerId="ADAL" clId="{F7BADE7D-4020-421A-8057-F9C54903405F}" dt="2026-09-03T05:14:22.492" v="169" actId="21"/>
          <ac:spMkLst>
            <pc:docMk/>
            <pc:sldMk cId="0" sldId="269"/>
            <ac:spMk id="38" creationId="{00000000-0000-0000-0000-000000000000}"/>
          </ac:spMkLst>
        </pc:spChg>
        <pc:spChg chg="del">
          <ac:chgData name="瀧口 博子" userId="c1a9c49e-c449-44ef-a351-681999c6c27e" providerId="ADAL" clId="{F7BADE7D-4020-421A-8057-F9C54903405F}" dt="2026-09-03T05:14:24.644" v="170" actId="21"/>
          <ac:spMkLst>
            <pc:docMk/>
            <pc:sldMk cId="0" sldId="269"/>
            <ac:spMk id="39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8645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image" Target="../media/image1.png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image" Target="../media/image2.png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image" Target="../media/image3.png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image" Target="../media/image4.png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image" Target="../media/image5.png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image" Target="../media/image6.png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Relationship Id="rId3" Type="http://schemas.openxmlformats.org/officeDocument/2006/relationships/image" Target="../media/image7.png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Relationship Id="rId3" Type="http://schemas.openxmlformats.org/officeDocument/2006/relationships/image" Target="../media/image8.png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1" descr="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rPr dirty="0" err="1"/>
              <a:t>今日は『声かけ・サポートアドバイザ</a:t>
            </a:r>
            <a:r>
              <a:rPr dirty="0"/>
              <a:t>ー　３か月行動計画表』の使い方を説明します。説明のあと、実際にグループ目標と自分の行動を考えていただきます。</a:t>
            </a:r>
            <a:r>
              <a:rPr lang="ja-JP" altLang="en-US" dirty="0"/>
              <a:t>（</a:t>
            </a:r>
            <a:r>
              <a:rPr dirty="0"/>
              <a:t>約20秒）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2" descr="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このシートは、グループで決めた目標を、自分の職場での行動につなげるためのものです。①グループで目標を決める、②自分の行動を決める、③行動をふり返る、の3ステップです。今日はこのうち①と②を行います。③は研修後、毎月行います。」（約30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4" descr="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rPr dirty="0"/>
              <a:t>「まずグループに分かれます。進行役・書記・発表者を決め、目標案とその理由を、付箋紙1枚に1つずつ、短い言葉で大きく書いてください。今日は配布した第1回のシートに手書きし、研修後にパソコンへ入力します。パソコンをお持ちでない方は、箇所長に紙を渡して入力をお願いしてください。」（約30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5" descr="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rPr dirty="0"/>
              <a:t>「グループ目標には、この3か月でみんなが目指すことを書きます。理由には、なぜその目標に取り組むのかを書きます。右の見本は書き方の参考です。グループで話し合って決めた内容を、同じようにわかりやすい言葉で書いてください。」（約20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6" descr="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rPr dirty="0"/>
              <a:t>「</a:t>
            </a:r>
            <a:r>
              <a:rPr dirty="0" err="1"/>
              <a:t>グループ目標が決まったら、次は各自で考えます</a:t>
            </a:r>
            <a:r>
              <a:rPr dirty="0"/>
              <a:t>。『</a:t>
            </a:r>
            <a:r>
              <a:rPr dirty="0" err="1"/>
              <a:t>何をする』には自分の職場で実際に行うことを</a:t>
            </a:r>
            <a:r>
              <a:rPr dirty="0"/>
              <a:t>、『どのように』にはいつ・どこで・誰に・どんな方法で行うかを書きます。今日はまず1か月目の分を考えます。」（約25秒）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3" descr="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「色を見れば、誰が書く欄かがわかります。白色の欄は本人が、緑色の欄は箇所長が書きます。パソコンをお持ちでない方は、箇所長に紙を渡して入力をお願いしてください。」（約15秒）</a:t>
            </a:r>
          </a:p>
          <a:p>
            <a:r>
              <a:t>※スライド見出しは「黄色」表記ですが、本文・凡例は「白色」になっています。表記を統一すると親切です。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7" descr="slid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t>「研修後は、月の初めに『何をする』『どのように』を書き、月の終わりに『できたこと』『できなかったこと』を書いて箇所長からコメントをもらいます。これを3か月続けたら、続けたいことと次にやることをまとめます。」（約20秒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Notes Slide Thumbnail 8" descr="slid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760720" cy="3240405"/>
          </a:xfrm>
          <a:prstGeom prst="rect">
            <a:avLst/>
          </a:prstGeom>
        </p:spPr>
      </p:pic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48640" y="3977639"/>
            <a:ext cx="5760720" cy="7086600"/>
          </a:xfrm>
        </p:spPr>
        <p:txBody>
          <a:bodyPr lIns="79690" tIns="39845" rIns="79690" bIns="39845"/>
          <a:lstStyle/>
          <a:p>
            <a:r>
              <a:rPr dirty="0"/>
              <a:t>「今日のポイントは3つです。①</a:t>
            </a:r>
            <a:r>
              <a:rPr dirty="0" err="1"/>
              <a:t>グループ目標を決める</a:t>
            </a:r>
            <a:r>
              <a:rPr dirty="0"/>
              <a:t>、②</a:t>
            </a:r>
            <a:r>
              <a:rPr dirty="0" err="1"/>
              <a:t>自分の行動に変える</a:t>
            </a:r>
            <a:r>
              <a:rPr dirty="0"/>
              <a:t>、③</a:t>
            </a:r>
            <a:r>
              <a:rPr dirty="0" err="1"/>
              <a:t>今日は紙に記入し、あとでパソコンへ。それでは、グループで目標を考えるところから始めましょう</a:t>
            </a:r>
            <a:r>
              <a:rPr dirty="0"/>
              <a:t>。」（約25秒）</a:t>
            </a:r>
          </a:p>
          <a:p>
            <a:r>
              <a:rPr dirty="0"/>
              <a:t>※ここまでの説明で合計およそ3分の想定です。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486400" y="11475720"/>
            <a:ext cx="822960" cy="228600"/>
          </a:xfrm>
        </p:spPr>
        <p:txBody>
          <a:bodyPr lIns="79690" tIns="39845" rIns="79690" bIns="39845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ja-JP" altLang="en-US">
              <a:latin typeface="MS Gothic"/>
              <a:ea typeface="MS Gothic"/>
              <a:cs typeface="MS Gothic"/>
            </a:endParaRPr>
          </a:p>
        </p:txBody>
      </p:sp>
      <p:sp>
        <p:nvSpPr>
          <p:cNvPr id="3" name="Shape 1"/>
          <p:cNvSpPr/>
          <p:nvPr/>
        </p:nvSpPr>
        <p:spPr>
          <a:xfrm>
            <a:off x="-2103120" y="4389120"/>
            <a:ext cx="4572000" cy="457200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  <p:txBody>
          <a:bodyPr/>
          <a:lstStyle/>
          <a:p>
            <a:endParaRPr lang="ja-JP" altLang="en-US">
              <a:latin typeface="MS Gothic"/>
              <a:ea typeface="MS Gothic"/>
              <a:cs typeface="MS Gothic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err="1">
                <a:solidFill>
                  <a:srgbClr val="02C39A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声かけ・サポートアドバイザ</a:t>
            </a:r>
            <a:r>
              <a:rPr lang="en-US" sz="2000" b="1">
                <a:solidFill>
                  <a:srgbClr val="02C39A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ー</a:t>
            </a:r>
            <a:endParaRPr lang="en-US" sz="20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３カ月</a:t>
            </a:r>
            <a:r>
              <a:rPr lang="en-US" sz="5400" b="1" dirty="0" err="1">
                <a:solidFill>
                  <a:srgbClr val="FFFFFF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行動計画表</a:t>
            </a:r>
            <a:r>
              <a:rPr lang="en-US" sz="4400" b="1" dirty="0">
                <a:solidFill>
                  <a:srgbClr val="FFFFFF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　</a:t>
            </a:r>
            <a:r>
              <a:rPr lang="en-US" sz="4400" b="1" dirty="0" err="1">
                <a:solidFill>
                  <a:srgbClr val="FFFFFF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使い方ガイド</a:t>
            </a:r>
            <a:endParaRPr lang="en-US" sz="4400" dirty="0">
              <a:latin typeface="MS Gothic"/>
              <a:ea typeface="MS Gothic"/>
              <a:cs typeface="MS Gothic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1945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ja-JP" altLang="en-US">
              <a:latin typeface="MS Gothic"/>
              <a:ea typeface="MS Gothic"/>
              <a:cs typeface="MS Gothic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87291" y="4603432"/>
            <a:ext cx="104498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CFE3E0"/>
                </a:solidFill>
                <a:latin typeface="ＭＳ ゴシック" pitchFamily="34" charset="0"/>
                <a:ea typeface="MS Gothic" pitchFamily="34" charset="-122"/>
                <a:cs typeface="MS Gothic" pitchFamily="34" charset="-120"/>
              </a:rPr>
              <a:t>目標を立てて、行動して、ふり返る。3か月のサイクルを見える化</a:t>
            </a:r>
            <a:endParaRPr lang="en-US" sz="2400" dirty="0">
              <a:latin typeface="MS Gothic"/>
              <a:ea typeface="MS Gothic"/>
              <a:cs typeface="MS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シートの目的：目標を、職場での行動につなげる</a:t>
            </a:r>
            <a:endParaRPr lang="en-US" sz="3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93996" y="1127855"/>
            <a:ext cx="9204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グループで決めた目標を、各自の行動に変え、3か月の変化を残します。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381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76200" dist="38100" dir="5400000" algn="bl" rotWithShape="0">
              <a:srgbClr val="1D2E2C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20240" y="24688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92024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グループで</a:t>
            </a:r>
            <a:r>
              <a:rPr lang="en-US" sz="2200" b="1" dirty="0" err="1">
                <a:solidFill>
                  <a:srgbClr val="1D2E2C"/>
                </a:solidFill>
                <a:highlight>
                  <a:srgbClr val="FFFF00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目標</a:t>
            </a:r>
            <a:r>
              <a:rPr lang="en-US" sz="22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を決める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dirty="0" err="1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みんなで目指すことと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dirty="0" err="1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その理由を決める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977640" y="3538728"/>
            <a:ext cx="411480" cy="329184"/>
          </a:xfrm>
          <a:prstGeom prst="rightArrow">
            <a:avLst/>
          </a:prstGeom>
          <a:solidFill>
            <a:srgbClr val="D8E6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381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76200" dist="38100" dir="5400000" algn="bl" rotWithShape="0">
              <a:srgbClr val="1D2E2C">
                <a:alpha val="12000"/>
              </a:srgbClr>
            </a:outerShdw>
          </a:effectLst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715000" y="24688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57150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各自が</a:t>
            </a:r>
            <a:r>
              <a:rPr lang="en-US" sz="2200" b="1" dirty="0" err="1">
                <a:solidFill>
                  <a:srgbClr val="1D2E2C"/>
                </a:solidFill>
                <a:highlight>
                  <a:srgbClr val="FFFF00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行動</a:t>
            </a:r>
            <a:r>
              <a:rPr lang="en-US" sz="22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を決める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自分の職場で「何を」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err="1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「どのように」するか考える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0" y="3538728"/>
            <a:ext cx="411480" cy="329184"/>
          </a:xfrm>
          <a:prstGeom prst="rightArrow">
            <a:avLst/>
          </a:prstGeom>
          <a:solidFill>
            <a:srgbClr val="D8E6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8229600" y="210312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38100">
            <a:solidFill>
              <a:schemeClr val="accent6">
                <a:lumMod val="75000"/>
              </a:schemeClr>
            </a:solidFill>
            <a:prstDash val="solid"/>
          </a:ln>
          <a:effectLst>
            <a:outerShdw blurRad="76200" dist="38100" dir="5400000" algn="bl" rotWithShape="0">
              <a:srgbClr val="1D2E2C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9509760" y="24688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950976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5820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行動を</a:t>
            </a:r>
            <a:r>
              <a:rPr lang="en-US" sz="2200" b="1" dirty="0" err="1">
                <a:solidFill>
                  <a:srgbClr val="1D2E2C"/>
                </a:solidFill>
                <a:highlight>
                  <a:srgbClr val="FFFF00"/>
                </a:highlight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ふり返る</a:t>
            </a:r>
            <a:endParaRPr lang="en-US" sz="2400" dirty="0">
              <a:highlight>
                <a:srgbClr val="FFFF00"/>
              </a:highlight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58200" y="402336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毎月記録し、3か月後に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dirty="0" err="1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次へつなげる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3333"/>
            </a:avLst>
          </a:prstGeom>
          <a:solidFill>
            <a:srgbClr val="EAF3F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02809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書くことが目的ではなく、職場で行動するための計画です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4337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付箋紙に書いて出し合い、グループ目標を決めます</a:t>
            </a:r>
            <a:endParaRPr lang="en-US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0067" y="1097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1枚に1つ、短い言葉で大きく書き、模造紙に貼って整理します</a:t>
            </a:r>
            <a:r>
              <a:rPr lang="en-US" sz="1800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3097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14198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en-US" b="1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役割を決め</a:t>
            </a: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、自分の考えを書く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783080" y="258775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進行役・書記・発表者を決め</a:t>
            </a: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目標の案や理由を付箋紙</a:t>
            </a: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1枚に1つずつ書きます。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3386137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0120" y="379476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5935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グループで出し合い、整理する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83080" y="405079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模造紙に貼り、似た意見をまとめながら目標と理由を決めます。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40080" y="4849177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0120" y="525780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6012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50566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各自で行動を考える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83080" y="551383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 err="1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決めた目標に向けて、自分の職場での行動を書きます</a:t>
            </a:r>
            <a:r>
              <a:rPr lang="en-US" dirty="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最初に：グループ目標と</a:t>
            </a:r>
            <a:r>
              <a:rPr lang="en-US" sz="28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、その理由を書く</a:t>
            </a:r>
            <a:endParaRPr lang="en-US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みんなで話し合って、同じ目標と理由を記入します。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2057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グループで決めること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 b="1" i="1" u="sng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グループ目標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この3か月で、みんなで何を目指すか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3886200"/>
            <a:ext cx="4937760" cy="0"/>
          </a:xfrm>
          <a:prstGeom prst="line">
            <a:avLst/>
          </a:prstGeom>
          <a:noFill/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2809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目標にした理由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14400" y="4434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なぜ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その目標に取り組むのか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5029200"/>
            <a:ext cx="4937760" cy="0"/>
          </a:xfrm>
          <a:prstGeom prst="line">
            <a:avLst/>
          </a:prstGeom>
          <a:noFill/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914400" y="516636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★</a:t>
            </a:r>
            <a:r>
              <a:rPr lang="en-US" dirty="0" err="1">
                <a:solidFill>
                  <a:schemeClr val="accent2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グループで決めた内容を、同じように書きます</a:t>
            </a:r>
            <a:endParaRPr lang="en-US" dirty="0">
              <a:solidFill>
                <a:schemeClr val="accent2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0" y="2697480"/>
            <a:ext cx="5120640" cy="3291840"/>
          </a:xfrm>
          <a:prstGeom prst="roundRect">
            <a:avLst>
              <a:gd name="adj" fmla="val 3333"/>
            </a:avLst>
          </a:prstGeom>
          <a:solidFill>
            <a:srgbClr val="FFF5DA"/>
          </a:solidFill>
          <a:ln w="19050">
            <a:solidFill>
              <a:srgbClr val="F5B7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6751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8A6300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参考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75120" y="3383280"/>
            <a:ext cx="45720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グループ目標</a:t>
            </a:r>
            <a:r>
              <a:rPr lang="en-US" sz="16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
</a:t>
            </a:r>
            <a:r>
              <a:rPr lang="en-US" sz="16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職場のみんなに声かけ・スポットを知ってもらい、困っている人に声をかける</a:t>
            </a:r>
            <a:r>
              <a:rPr lang="en-US" sz="16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
</a:t>
            </a:r>
            <a:r>
              <a:rPr lang="en-US" sz="16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理由</a:t>
            </a:r>
            <a:r>
              <a:rPr lang="en-US" sz="16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
</a:t>
            </a:r>
            <a:r>
              <a:rPr lang="en-US" sz="16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困っている人に気づき、声をかけられる職場にしたいから</a:t>
            </a:r>
            <a:r>
              <a:rPr lang="en-US" sz="16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次に</a:t>
            </a:r>
            <a:r>
              <a:rPr lang="en-US" sz="2800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：</a:t>
            </a:r>
            <a:r>
              <a:rPr lang="en-US" sz="2800" b="1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自分の職場での行動を書く</a:t>
            </a:r>
            <a:endParaRPr lang="en-US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同じグループ目標に向けて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一人ひとりが自分で考えます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3591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何をする（行動）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005840" y="306324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F7FA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188720" y="3063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b="1" dirty="0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自分の職場で、何をするかを書く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05840" y="402336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F7FAF9"/>
          </a:solidFill>
          <a:ln/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8720" y="40233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グループ目標につながる、できることを考える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806440" y="3538728"/>
            <a:ext cx="548640" cy="329184"/>
          </a:xfrm>
          <a:prstGeom prst="rightArrow">
            <a:avLst/>
          </a:prstGeom>
          <a:solidFill>
            <a:srgbClr val="D8E6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400800" y="2011680"/>
            <a:ext cx="51206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720840" y="233172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7208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52360" y="235915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どのように（やり方）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766560" y="306324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F7FA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949440" y="306324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いつ・どこで・誰に・どんな方法で行うか</a:t>
            </a:r>
            <a:r>
              <a:rPr lang="ja-JP" altLang="en-US" b="1" dirty="0">
                <a:solidFill>
                  <a:srgbClr val="1D2E2C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（できれば）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766560" y="402336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F7FAF9"/>
          </a:solidFill>
          <a:ln/>
        </p:spPr>
        <p:txBody>
          <a:bodyPr/>
          <a:lstStyle/>
          <a:p>
            <a:endParaRPr lang="ja-JP" altLang="en-US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9440" y="402336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実際にできる、わかりやすいやり方を書く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まず1か月目の「何をする」「</a:t>
            </a:r>
            <a:r>
              <a:rPr lang="en-US" dirty="0" err="1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どのように」を考えます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記入のルール：黄色は本人、緑は箇所長</a:t>
            </a:r>
            <a:endParaRPr lang="en-US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77440" y="1112996"/>
            <a:ext cx="852535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色を見れば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誰が書く欄かがわかります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70561" y="1965960"/>
            <a:ext cx="5120640" cy="4023360"/>
          </a:xfrm>
          <a:prstGeom prst="roundRect">
            <a:avLst>
              <a:gd name="adj" fmla="val 3182"/>
            </a:avLst>
          </a:prstGeom>
          <a:ln w="15240">
            <a:solidFill>
              <a:srgbClr val="F5B7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ja-JP" altLang="en-US">
              <a:solidFill>
                <a:schemeClr val="accent1"/>
              </a:solidFill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05840" y="23317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5B700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ja-JP" altLang="en-US" sz="2400" b="1" dirty="0">
                <a:solidFill>
                  <a:srgbClr val="0F4A45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白色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2560320" y="2331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本人が書く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44866" cy="1871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氏名</a:t>
            </a:r>
            <a:r>
              <a:rPr lang="en-US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・職場・期間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グループ目標と理由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毎月の「何をする」「どのように」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できたこと／できなかったこと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1965960"/>
            <a:ext cx="5120640" cy="4023360"/>
          </a:xfrm>
          <a:prstGeom prst="roundRect">
            <a:avLst>
              <a:gd name="adj" fmla="val 3182"/>
            </a:avLst>
          </a:prstGeom>
          <a:solidFill>
            <a:srgbClr val="E4F3E9"/>
          </a:solidFill>
          <a:ln w="19050">
            <a:solidFill>
              <a:srgbClr val="3C9A5F"/>
            </a:solidFill>
            <a:prstDash val="solid"/>
          </a:ln>
        </p:spPr>
        <p:txBody>
          <a:bodyPr/>
          <a:lstStyle/>
          <a:p>
            <a:endParaRPr lang="ja-JP" alt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766560" y="230886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3C9A5F"/>
          </a:solidFill>
          <a:ln/>
        </p:spPr>
        <p:txBody>
          <a:bodyPr/>
          <a:lstStyle/>
          <a:p>
            <a:endParaRPr lang="ja-JP" alt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6656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緑色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21040" y="23317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箇所長が書く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66560" y="3200400"/>
            <a:ext cx="4389120" cy="18716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毎月の確認コメント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3</a:t>
            </a:r>
            <a:r>
              <a:rPr lang="en-US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か月後のコメント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PC入力のサポート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研修後：毎月ふり返り、3か月後にまとめる</a:t>
            </a:r>
            <a:endParaRPr lang="en-US" sz="28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0744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行動した結果を残すと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変化と次にすることが見えてきます</a:t>
            </a:r>
            <a:r>
              <a:rPr lang="en-US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502920" cy="502920"/>
          </a:xfrm>
          <a:prstGeom prst="ellipse">
            <a:avLst/>
          </a:prstGeom>
          <a:solidFill>
            <a:srgbClr val="3C9A5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213055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月の初めに、行動を書く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1783080" y="258775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「何をする」「どのように」を書きます</a:t>
            </a: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4290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60120" y="37947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59359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月の終わりに</a:t>
            </a:r>
            <a:r>
              <a:rPr lang="en-US" sz="2000" b="1" dirty="0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 sz="20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結果を書く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83080" y="405079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「できたこと</a:t>
            </a:r>
            <a:r>
              <a:rPr lang="en-US" sz="200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」「できなかったこと</a:t>
            </a: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」</a:t>
            </a:r>
            <a:r>
              <a:rPr lang="en-US" sz="200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を書き</a:t>
            </a: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</a:t>
            </a:r>
            <a:r>
              <a:rPr lang="en-US" sz="200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箇所長がコメントします</a:t>
            </a: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。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E6E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52578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6012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50566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000" b="1">
                <a:solidFill>
                  <a:srgbClr val="1D2E2C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3か月後に、全体をまとめる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83080" y="5513832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「続けたいこと」「次にやること」を書き</a:t>
            </a:r>
            <a:r>
              <a:rPr lang="en-US" sz="2000" dirty="0">
                <a:solidFill>
                  <a:srgbClr val="5B6E6B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、最後に箇所長がコメントします。</a:t>
            </a:r>
            <a:endParaRPr lang="en-US" sz="20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E6B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ja-JP" altLang="en-US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まとめ：</a:t>
            </a:r>
            <a:r>
              <a:rPr lang="en-US" sz="3200" b="1">
                <a:solidFill>
                  <a:srgbClr val="FFFF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今日、覚えてほしい</a:t>
            </a:r>
            <a:r>
              <a:rPr lang="en-US" sz="3200" b="1" dirty="0">
                <a:solidFill>
                  <a:srgbClr val="FFFF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3</a:t>
            </a:r>
            <a:r>
              <a:rPr lang="en-US" sz="3200" b="1">
                <a:solidFill>
                  <a:srgbClr val="FFFFFF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mbria" pitchFamily="34" charset="-120"/>
              </a:rPr>
              <a:t>つ</a:t>
            </a:r>
            <a:endParaRPr lang="en-US" sz="32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784509"/>
            <a:ext cx="1051560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ja-JP" altLang="en-US" sz="2400">
              <a:highlight>
                <a:srgbClr val="C0C0C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1097280" y="2194560"/>
            <a:ext cx="548640" cy="548640"/>
          </a:xfrm>
          <a:prstGeom prst="ellipse">
            <a:avLst/>
          </a:prstGeom>
          <a:solidFill>
            <a:srgbClr val="F5B7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B3D3A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18288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グループ目標を決める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20240" y="2487168"/>
            <a:ext cx="917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ja-JP" altLang="en-US" sz="2400" dirty="0"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みんなで目指すことと、その理由を決めます。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22960" y="3337560"/>
            <a:ext cx="1051560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ja-JP" altLang="en-US" sz="2400" dirty="0">
              <a:highlight>
                <a:srgbClr val="C0C0C0"/>
              </a:highlight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" y="37033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09728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B3D3A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920240" y="35204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自分の行動に変える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20240" y="399592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err="1"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自分の職場で「何をする」「どのようにする」を書きます。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4869180"/>
            <a:ext cx="10515600" cy="1280160"/>
          </a:xfrm>
          <a:prstGeom prst="roundRect">
            <a:avLst>
              <a:gd name="adj" fmla="val 7143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ja-JP" altLang="en-US">
              <a:highlight>
                <a:srgbClr val="C0C0C0"/>
              </a:highlight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97280" y="521208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109728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0B3D3A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920240" y="494461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紙から始め、あとでPCへ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20240" y="5504688"/>
            <a:ext cx="92395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 err="1"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今日は紙に記入。PCがなければ、箇所長に入力をお願いします</a:t>
            </a:r>
            <a:r>
              <a:rPr lang="en-US" sz="2400" dirty="0"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FC9C3"/>
                </a:solidFill>
                <a:latin typeface="ＭＳ ゴシック" panose="020B0609070205080204" pitchFamily="49" charset="-128"/>
                <a:ea typeface="ＭＳ ゴシック" panose="020B0609070205080204" pitchFamily="49" charset="-128"/>
                <a:cs typeface="Calibri" pitchFamily="34" charset="-120"/>
              </a:rPr>
              <a:t>行動して、毎月ふり返り、3か月後に次へつなげましょう</a:t>
            </a:r>
            <a:endParaRPr lang="en-US" sz="2400" dirty="0">
              <a:latin typeface="ＭＳ ゴシック" panose="020B0609070205080204" pitchFamily="49" charset="-128"/>
              <a:ea typeface="ＭＳ ゴシック" panose="020B0609070205080204" pitchFamily="49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149840" y="64008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CFE3E0"/>
                </a:solidFill>
                <a:latin typeface="ＭＳ ゴシック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592</Words>
  <Application>Microsoft Office PowerPoint</Application>
  <PresentationFormat>ワイド画面</PresentationFormat>
  <Paragraphs>111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ＭＳ ゴシック</vt:lpstr>
      <vt:lpstr>ＭＳ 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博子 瀧口</cp:lastModifiedBy>
  <cp:revision>19</cp:revision>
  <cp:lastPrinted>2026-09-03T07:06:03Z</cp:lastPrinted>
  <dcterms:created xsi:type="dcterms:W3CDTF">2026-08-18T07:23:31Z</dcterms:created>
  <dcterms:modified xsi:type="dcterms:W3CDTF">2026-09-03T07:16:31Z</dcterms:modified>
</cp:coreProperties>
</file>